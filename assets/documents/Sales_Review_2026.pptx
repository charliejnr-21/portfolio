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Elaborate on Q4 Performance with real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Elaborate on Territory Analysis with real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Sales Performance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4FF"/>
                </a:solidFill>
                <a:latin typeface="Calibri"/>
              </a:defRPr>
            </a:pPr>
            <a:r>
              <a:t>Pharmaceutical Industry —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4114800"/>
            <a:ext cx="3044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B7FA0"/>
                </a:solidFill>
                <a:latin typeface="Calibri"/>
              </a:defRPr>
            </a:pPr>
            <a:r>
              <a:t>Prepared by Infinity Designs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Q4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Revenue: $12.4M (vs $10.8M target)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745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New accounts: 34 (vs 28 target)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Pipeline value: $45.2M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Win rate: 32% vs 28% prior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Territory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South-West: $4.8M — strongest region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745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North-Central: $3.2M — 22% growth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South-East: $2.6M — new territory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International: $1.8M — first exports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Key Metrics —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10995" y="1645920"/>
            <a:ext cx="2286000" cy="1645920"/>
          </a:xfrm>
          <a:prstGeom prst="round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93875" y="1828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FA0"/>
                </a:solidFill>
                <a:latin typeface="Calibri"/>
              </a:defRPr>
            </a:pPr>
            <a:r>
              <a:t>Revenue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3875" y="21945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FF"/>
                </a:solidFill>
                <a:latin typeface="Calibri"/>
              </a:defRPr>
            </a:pPr>
            <a:r>
              <a:t>$36M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71315" y="1645920"/>
            <a:ext cx="2286000" cy="1645920"/>
          </a:xfrm>
          <a:prstGeom prst="round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54196" y="1828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FA0"/>
                </a:solidFill>
                <a:latin typeface="Calibri"/>
              </a:defRPr>
            </a:pPr>
            <a:r>
              <a:t>Growth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54196" y="21945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FF"/>
                </a:solidFill>
                <a:latin typeface="Calibri"/>
              </a:defRPr>
            </a:pPr>
            <a:r>
              <a:t>20%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645920"/>
            <a:ext cx="2286000" cy="1645920"/>
          </a:xfrm>
          <a:prstGeom prst="round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4516" y="1828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FA0"/>
                </a:solidFill>
                <a:latin typeface="Calibri"/>
              </a:defRPr>
            </a:pPr>
            <a:r>
              <a:t>Clients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4516" y="21945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FF"/>
                </a:solidFill>
                <a:latin typeface="Calibri"/>
              </a:defRPr>
            </a:pPr>
            <a:r>
              <a:t>146+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91955" y="1645920"/>
            <a:ext cx="2286000" cy="1645920"/>
          </a:xfrm>
          <a:prstGeom prst="round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74835" y="1828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FA0"/>
                </a:solidFill>
                <a:latin typeface="Calibri"/>
              </a:defRPr>
            </a:pPr>
            <a:r>
              <a:t>Satisfaction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74835" y="21945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FF"/>
                </a:solidFill>
                <a:latin typeface="Calibri"/>
              </a:defRPr>
            </a:pPr>
            <a:r>
              <a:t>91%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Sales Performance Review —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65276" y="1371600"/>
          <a:ext cx="10058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  <a:gridCol w="2514600"/>
                <a:gridCol w="251460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2B50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Current</a:t>
                      </a:r>
                    </a:p>
                  </a:txBody>
                  <a:tcPr>
                    <a:solidFill>
                      <a:srgbClr val="2B50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2B50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Gap</a:t>
                      </a:r>
                    </a:p>
                  </a:txBody>
                  <a:tcPr>
                    <a:solidFill>
                      <a:srgbClr val="2B50D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Performance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Good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Excellent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+20%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Efficiency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78%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92%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+14%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Quality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85/100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95/100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+10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4FF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B7FA0"/>
                </a:solidFill>
                <a:latin typeface="Calibri"/>
              </a:defRPr>
            </a:pPr>
            <a:r>
              <a:t>charliejnr38@gmail.com | Infinity Designs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